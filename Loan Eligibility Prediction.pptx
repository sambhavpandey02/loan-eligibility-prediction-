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2281237" y="4253805"/>
            <a:ext cx="76295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281237" y="4253805"/>
            <a:ext cx="7629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077890" y="1746944"/>
            <a:ext cx="4036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IBM SPSS MODELER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0346" y="2175569"/>
            <a:ext cx="1045130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Loan Eligibility Prediction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01938" y="3158430"/>
            <a:ext cx="498812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Classification Model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81237" y="4644330"/>
            <a:ext cx="19883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Sambhav Pandey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281237" y="4939605"/>
            <a:ext cx="1988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 NO: 1240645166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81512" y="4644330"/>
            <a:ext cx="2667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BBA Business Analytics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481512" y="4939605"/>
            <a:ext cx="2667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SECTION: BBA BA32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224712" y="4644330"/>
            <a:ext cx="3357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Sectoral Functional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52500" y="2808833"/>
            <a:ext cx="3225849" cy="2524125"/>
          </a:xfrm>
          <a:prstGeom prst="roundRect">
            <a:avLst>
              <a:gd fmla="val 6037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483149" y="2808833"/>
            <a:ext cx="3225849" cy="2524125"/>
          </a:xfrm>
          <a:prstGeom prst="roundRect">
            <a:avLst>
              <a:gd fmla="val 6037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13799" y="2937420"/>
            <a:ext cx="3225849" cy="2266950"/>
          </a:xfrm>
          <a:prstGeom prst="roundRect">
            <a:avLst>
              <a:gd fmla="val 6722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825" y="312315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7474" y="312315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124" y="325174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9225" y="327555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49874" y="327555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94811" y="340414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Introduction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266825" y="3847058"/>
            <a:ext cx="3408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Goal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66825" y="4247108"/>
            <a:ext cx="26924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Assess preliminary bank loan applications for approval or rejection.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797474" y="3847058"/>
            <a:ext cx="3408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Methodology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797474" y="4247108"/>
            <a:ext cx="26924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Uncover financial and demographic patterns in previous applications.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28124" y="3975645"/>
            <a:ext cx="34088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Output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28124" y="437569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model predicting Loan_Status as 'Y' or 'N'.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000125" y="1436042"/>
            <a:ext cx="4838700" cy="1009800"/>
          </a:xfrm>
          <a:prstGeom prst="roundRect">
            <a:avLst>
              <a:gd fmla="val 15094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000125" y="2631055"/>
            <a:ext cx="4838700" cy="1228800"/>
          </a:xfrm>
          <a:prstGeom prst="roundRect">
            <a:avLst>
              <a:gd fmla="val 12403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952500" y="4105267"/>
            <a:ext cx="4838700" cy="1552500"/>
          </a:xfrm>
          <a:prstGeom prst="roundRect">
            <a:avLst>
              <a:gd fmla="val 9815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1190625" y="5053005"/>
            <a:ext cx="4362600" cy="428700"/>
          </a:xfrm>
          <a:prstGeom prst="roundRect">
            <a:avLst>
              <a:gd fmla="val 17777" name="adj"/>
            </a:avLst>
          </a:prstGeom>
          <a:solidFill>
            <a:srgbClr val="0C0E19"/>
          </a:solidFill>
          <a:ln cap="flat" cmpd="sng" w="9525">
            <a:solidFill>
              <a:srgbClr val="2F32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569690"/>
            <a:ext cx="4838700" cy="2074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40930" l="0" r="2325" t="0"/>
          <a:stretch/>
        </p:blipFill>
        <p:spPr>
          <a:xfrm>
            <a:off x="6400800" y="3777702"/>
            <a:ext cx="4726275" cy="23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Used &amp; Preparation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90575" y="1587554"/>
            <a:ext cx="572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90600" y="1836992"/>
            <a:ext cx="545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fields of applicant details and financial metrics.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190625" y="2888005"/>
            <a:ext cx="572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Audit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90625" y="3209917"/>
            <a:ext cx="445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values detected in Credit_History and Self_Employed.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190613" y="4212655"/>
            <a:ext cx="572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Cleaning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150150" y="4611892"/>
            <a:ext cx="545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Filtered incomplete records using Select node.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352500" y="5206942"/>
            <a:ext cx="504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not(@NULL(Credit_History))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52500" y="19536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52500" y="26775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52500" y="34014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952500" y="41253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52500" y="48492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52500" y="5573166"/>
            <a:ext cx="3810000" cy="495300"/>
          </a:xfrm>
          <a:prstGeom prst="roundRect">
            <a:avLst>
              <a:gd fmla="val 23076" name="adj"/>
            </a:avLst>
          </a:prstGeom>
          <a:solidFill>
            <a:srgbClr val="1B19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143000" y="20679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143000" y="27918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143000" y="35157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143000" y="42396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143000" y="49635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1143000" y="5687466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9700" y="2007840"/>
            <a:ext cx="6019800" cy="400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Workflow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000125" y="20679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562100" y="2091779"/>
            <a:ext cx="23455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Import data via Var. File.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1000125" y="27918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562100" y="2815679"/>
            <a:ext cx="21074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missing values.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00125" y="35157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562100" y="3539579"/>
            <a:ext cx="2047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Define Target status.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00125" y="42396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562100" y="4263479"/>
            <a:ext cx="20240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Split data partitions.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00125" y="49635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562100" y="4987379"/>
            <a:ext cx="25598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 classification model.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000125" y="5687466"/>
            <a:ext cx="552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09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562100" y="5711279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 via Analysis nodes.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52500" y="2296715"/>
            <a:ext cx="3810000" cy="2093416"/>
          </a:xfrm>
          <a:prstGeom prst="roundRect">
            <a:avLst>
              <a:gd fmla="val 7279" name="adj"/>
            </a:avLst>
          </a:prstGeom>
          <a:solidFill>
            <a:srgbClr val="181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952500" y="4694932"/>
            <a:ext cx="3810000" cy="1880145"/>
          </a:xfrm>
          <a:prstGeom prst="roundRect">
            <a:avLst>
              <a:gd fmla="val 8105" name="adj"/>
            </a:avLst>
          </a:prstGeom>
          <a:solidFill>
            <a:srgbClr val="181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952500" y="4380607"/>
            <a:ext cx="3810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952500" y="2296715"/>
            <a:ext cx="3810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952500" y="2296715"/>
            <a:ext cx="38100" cy="20934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752975" y="2296715"/>
            <a:ext cx="9525" cy="2093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952500" y="6565552"/>
            <a:ext cx="3810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952500" y="4694932"/>
            <a:ext cx="3810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952500" y="4694932"/>
            <a:ext cx="38100" cy="188014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752975" y="4694932"/>
            <a:ext cx="9525" cy="18801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3425" y="1801715"/>
            <a:ext cx="5867400" cy="485611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Partitioning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295400" y="2611040"/>
            <a:ext cx="413801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80%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295400" y="3334940"/>
            <a:ext cx="39409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 Set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295400" y="3649265"/>
            <a:ext cx="32480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268 records teach underlying applicant patterns.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295400" y="5009257"/>
            <a:ext cx="413801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A78B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20%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295400" y="5733157"/>
            <a:ext cx="394096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Set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1295400" y="6047482"/>
            <a:ext cx="3940968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83 records evaluate predictive accuracy.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952500" y="2236440"/>
            <a:ext cx="4838700" cy="1228725"/>
          </a:xfrm>
          <a:prstGeom prst="roundRect">
            <a:avLst>
              <a:gd fmla="val 12403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952500" y="3693765"/>
            <a:ext cx="4838700" cy="1009650"/>
          </a:xfrm>
          <a:prstGeom prst="roundRect">
            <a:avLst>
              <a:gd fmla="val 15094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952500" y="4932015"/>
            <a:ext cx="4838700" cy="1228725"/>
          </a:xfrm>
          <a:prstGeom prst="roundRect">
            <a:avLst>
              <a:gd fmla="val 12403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817340"/>
            <a:ext cx="48387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Used: CHAID Decision Tree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90625" y="2474565"/>
            <a:ext cx="57257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18C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190625" y="2788890"/>
            <a:ext cx="4457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Builds decision rules using Chi-squared Automatic Interaction Detection.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190625" y="3931890"/>
            <a:ext cx="57257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Driver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190625" y="4246215"/>
            <a:ext cx="54530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Credit_History identified as the primary predictor.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190625" y="5170140"/>
            <a:ext cx="57257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72B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 Factors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190625" y="5484465"/>
            <a:ext cx="4457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CoapplicantIncome and Property_Area influence the final decision.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74525"/>
            <a:ext cx="12192000" cy="75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952500" y="649065"/>
            <a:ext cx="10287000" cy="19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952500" y="1049115"/>
            <a:ext cx="3333900" cy="1686000"/>
          </a:xfrm>
          <a:prstGeom prst="roundRect">
            <a:avLst>
              <a:gd fmla="val 9039" name="adj"/>
            </a:avLst>
          </a:prstGeom>
          <a:solidFill>
            <a:srgbClr val="181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952500" y="2963640"/>
            <a:ext cx="3333900" cy="1686000"/>
          </a:xfrm>
          <a:prstGeom prst="roundRect">
            <a:avLst>
              <a:gd fmla="val 9039" name="adj"/>
            </a:avLst>
          </a:prstGeom>
          <a:solidFill>
            <a:srgbClr val="181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952500" y="4878165"/>
            <a:ext cx="3333900" cy="1686000"/>
          </a:xfrm>
          <a:prstGeom prst="roundRect">
            <a:avLst>
              <a:gd fmla="val 9039" name="adj"/>
            </a:avLst>
          </a:prstGeom>
          <a:solidFill>
            <a:srgbClr val="181B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952500" y="2725515"/>
            <a:ext cx="33339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952500" y="1049115"/>
            <a:ext cx="3333900" cy="381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952500" y="1049115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276725" y="1049115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952500" y="4640040"/>
            <a:ext cx="33339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952500" y="2963640"/>
            <a:ext cx="33339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952500" y="2963640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4276725" y="2963640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52500" y="6554565"/>
            <a:ext cx="33339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952500" y="4878165"/>
            <a:ext cx="33339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52500" y="4878165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276725" y="4878165"/>
            <a:ext cx="9600" cy="16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5850" y="2145383"/>
            <a:ext cx="6343650" cy="332229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952500" y="-6225"/>
            <a:ext cx="1123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Results and Accuracy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266825" y="1392015"/>
            <a:ext cx="33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 PERFORMANCE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266825" y="1601565"/>
            <a:ext cx="33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82.46%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266825" y="2220690"/>
            <a:ext cx="33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221 correct out of 268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266825" y="3306540"/>
            <a:ext cx="33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PERFORMANCE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266825" y="3516090"/>
            <a:ext cx="33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90.36%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266825" y="4135215"/>
            <a:ext cx="33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 correct out of 83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266825" y="5221065"/>
            <a:ext cx="33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RATE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266825" y="5430615"/>
            <a:ext cx="338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9.64%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266825" y="6049740"/>
            <a:ext cx="338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8 incorrect predictions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22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/>
          <p:nvPr/>
        </p:nvSpPr>
        <p:spPr>
          <a:xfrm>
            <a:off x="952500" y="1417290"/>
            <a:ext cx="10287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6324600" y="2128242"/>
            <a:ext cx="4914900" cy="1247775"/>
          </a:xfrm>
          <a:prstGeom prst="roundRect">
            <a:avLst>
              <a:gd fmla="val 12213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324600" y="3604617"/>
            <a:ext cx="4914900" cy="1247775"/>
          </a:xfrm>
          <a:prstGeom prst="roundRect">
            <a:avLst>
              <a:gd fmla="val 12213" name="adj"/>
            </a:avLst>
          </a:prstGeom>
          <a:solidFill>
            <a:srgbClr val="181B31"/>
          </a:solidFill>
          <a:ln cap="flat" cmpd="sng" w="9525">
            <a:solidFill>
              <a:srgbClr val="242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6324600" y="5080992"/>
            <a:ext cx="4914900" cy="1247775"/>
          </a:xfrm>
          <a:prstGeom prst="roundRect">
            <a:avLst>
              <a:gd fmla="val 12213" name="adj"/>
            </a:avLst>
          </a:prstGeom>
          <a:solidFill>
            <a:srgbClr val="161B35"/>
          </a:solidFill>
          <a:ln cap="flat" cmpd="sng" w="9525">
            <a:solidFill>
              <a:srgbClr val="2256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007840"/>
            <a:ext cx="4914900" cy="4441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239017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2725" y="3866554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2725" y="534292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952500" y="762000"/>
            <a:ext cx="1123950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Confusion Matrix &amp; Conclusion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562725" y="2680692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Matrix confirms precise performance across both target classes ('Y' and 'N').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562725" y="4157067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CHAID workflow generates highly accurate loan eligibility predictions.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562725" y="5633442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Deployable to fast-track reliable applications, supporting human financial judgment.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867525" y="2366367"/>
            <a:ext cx="24378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Set Breakdown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848475" y="3842742"/>
            <a:ext cx="139017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867525" y="5319117"/>
            <a:ext cx="22627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Application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